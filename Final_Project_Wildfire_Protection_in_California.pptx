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VVQv0NTL8Uwz85nU8Wipfco6b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9492B4-143F-4FBB-B781-B52920B35433}">
  <a:tblStyle styleId="{6C9492B4-143F-4FBB-B781-B52920B354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zenodo.org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Welcome everyone. Our project tackles one of the most pressing environmental challenges in California: predicting wildfire ignition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happens.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</a:rPr>
              <a:t>We focused on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daily weather data to tell us whether a wildfire will start on a given day?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Why? Because it can serve as an early </a:t>
            </a:r>
            <a:r>
              <a:rPr lang="en-US" sz="1200">
                <a:solidFill>
                  <a:schemeClr val="dk1"/>
                </a:solidFill>
              </a:rPr>
              <a:t>warning</a:t>
            </a:r>
            <a:r>
              <a:rPr lang="en-US" sz="1200">
                <a:solidFill>
                  <a:schemeClr val="dk1"/>
                </a:solidFill>
              </a:rPr>
              <a:t> signal for emergency services and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potentially save lives and property.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team of four – Ruchi, Alvaro, Jake and Phil - tackled this as a supervised binary classification problem - fire day or not -We built and compared four machine learning models to find the best approach.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[Ruchi]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California has experienced a dramatic increase in wildfire activity</a:t>
            </a:r>
            <a:r>
              <a:rPr lang="en-US" sz="1200">
                <a:solidFill>
                  <a:schemeClr val="dk1"/>
                </a:solidFill>
              </a:rPr>
              <a:t>  as you can see from the graph showing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Year-on-year incident responses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early warning systems are largely reactive</a:t>
            </a:r>
            <a:r>
              <a:rPr lang="en-US" sz="1200">
                <a:solidFill>
                  <a:schemeClr val="dk1"/>
                </a:solidFill>
              </a:rPr>
              <a:t>, rely on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satellite imagery or fire lookout towers after ignition has already occurred. At that point, the response is containment, not prevention.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hypothesis is that weather conditions create predictable windows of elevated fire risk.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dentifying those windows reliably ena</a:t>
            </a:r>
            <a:r>
              <a:rPr lang="en-US" sz="1200">
                <a:solidFill>
                  <a:schemeClr val="dk1"/>
                </a:solidFill>
              </a:rPr>
              <a:t>bles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agencies </a:t>
            </a:r>
            <a:r>
              <a:rPr lang="en-US" sz="1200">
                <a:solidFill>
                  <a:schemeClr val="dk1"/>
                </a:solidFill>
              </a:rPr>
              <a:t>to tak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preemptive action - think of it as a 'weather forecast for fire risk' rather than a post-ignition alert.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[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We're not trying to predict where a fire will start or how large it will grow. The question is simply: given today's weather conditions in California, should we be on high alert?]</a:t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[Ruchi]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dataset comes from the California Weather and Fire Prediction Dataset on </a:t>
            </a:r>
            <a:r>
              <a:rPr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Zenodo.org</a:t>
            </a:r>
            <a:r>
              <a:rPr lang="en-US" sz="1200">
                <a:solidFill>
                  <a:schemeClr val="dk1"/>
                </a:solidFill>
              </a:rPr>
              <a:t> that combines </a:t>
            </a: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</a:rPr>
              <a:t>NOAA Climate Data with fire incident data from CAL FIRE. It covers</a:t>
            </a:r>
            <a:r>
              <a:rPr lang="en-US" sz="1200">
                <a:solidFill>
                  <a:schemeClr val="dk1"/>
                </a:solidFill>
              </a:rPr>
              <a:t> roughly 15,000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daily observations 41 years of dat</a:t>
            </a:r>
            <a:r>
              <a:rPr lang="en-US" sz="1200">
                <a:solidFill>
                  <a:schemeClr val="dk1"/>
                </a:solidFill>
              </a:rPr>
              <a:t>a (across 1</a:t>
            </a:r>
            <a:r>
              <a:rPr lang="en-US" sz="1200">
                <a:solidFill>
                  <a:schemeClr val="dk1"/>
                </a:solidFill>
              </a:rPr>
              <a:t>984 to 2025)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raw dataset had 14,989 rows. We removed only 13 rows with missing values - representing just 0.09% of the data - leaving us 14,976 clean observations.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split these into 8,985 training, 2,995 validation, and 2,996 test observations using stratified 60/20/20 sampling to preserve the class balance across all three sets.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</a:rPr>
              <a:t>the original data had features across 3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categories: weather, temporal, target. The four weather variables are raw daily measurements. </a:t>
            </a:r>
            <a:r>
              <a:rPr lang="en-US" sz="1200">
                <a:solidFill>
                  <a:schemeClr val="dk1"/>
                </a:solidFill>
              </a:rPr>
              <a:t>The three engineered features capture temporal patterns - particularly drought buildup. e.g., days_without_rain, which counts consecutive dry days as a proxy for vegetation dryness.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16 temporal features are one-hot encoded month and season column</a:t>
            </a:r>
            <a:r>
              <a:rPr lang="en-US" sz="1200">
                <a:solidFill>
                  <a:schemeClr val="dk1"/>
                </a:solidFill>
              </a:rPr>
              <a:t>s, leaving us with </a:t>
            </a:r>
            <a:r>
              <a:rPr lang="en-US" sz="1200">
                <a:solidFill>
                  <a:schemeClr val="dk1"/>
                </a:solidFill>
              </a:rPr>
              <a:t>a total of 23 predictive features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important preprocessing decision: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dataset has a 67/33 class imbalance - two thirds of days have no fire. We addressed this through class weighting in each model rather than resampling.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to next talk about our E</a:t>
            </a:r>
            <a:r>
              <a:rPr lang="en-US" sz="1200">
                <a:solidFill>
                  <a:schemeClr val="dk1"/>
                </a:solidFill>
              </a:rPr>
              <a:t>DA, I’ll pass it on to Jake.</a:t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[JAKE]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We conducted EDA. Findings: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Min temp (often the overnight low) strongest positive correlation to fire binary variable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Research shows that 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plants and trees cannot recover overnight when temperatures stay high,</a:t>
            </a:r>
            <a:r>
              <a:rPr lang="en-US" sz="1700">
                <a:solidFill>
                  <a:schemeClr val="dk1"/>
                </a:solidFill>
              </a:rPr>
              <a:t> which increases </a:t>
            </a:r>
            <a:r>
              <a:rPr lang="en-US" sz="1700">
                <a:solidFill>
                  <a:schemeClr val="dk1"/>
                </a:solidFill>
              </a:rPr>
              <a:t>stress</a:t>
            </a:r>
            <a:r>
              <a:rPr lang="en-US" sz="1700">
                <a:solidFill>
                  <a:schemeClr val="dk1"/>
                </a:solidFill>
              </a:rPr>
              <a:t> on plants and decresaes moisture content, which can lead to wildfires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Max temp was more weakly correlated but still moderately correlated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Days without rain also positively correlated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captures the cumulative drying effect that standard precipitation variables miss</a:t>
            </a:r>
            <a:r>
              <a:rPr lang="en-US" sz="1700">
                <a:solidFill>
                  <a:schemeClr val="dk1"/>
                </a:solidFill>
              </a:rPr>
              <a:t>: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single dry day is not dangerous, but 30 consecutive dry days are.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 speed </a:t>
            </a:r>
            <a:r>
              <a:rPr lang="en-US" sz="1700">
                <a:solidFill>
                  <a:schemeClr val="dk1"/>
                </a:solidFill>
              </a:rPr>
              <a:t>has very little correlation 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ignition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May contribute to spread but didn’t show strong positive correlation to yes or no ignition</a:t>
            </a:r>
            <a:b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EDA findings directly informed our model evaluation </a:t>
            </a:r>
            <a:r>
              <a:rPr lang="en-US" sz="1700">
                <a:solidFill>
                  <a:schemeClr val="dk1"/>
                </a:solidFill>
              </a:rPr>
              <a:t>-</a:t>
            </a: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we later look at feature importance from the Random Forest, we see these same three features at the top, validating our EDA.</a:t>
            </a:r>
            <a:endParaRPr sz="1900"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[JAKE]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implemented five models including the baseline, progressing from simplest to most complex.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</a:rPr>
              <a:t>Baseline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en-US" sz="1600">
                <a:solidFill>
                  <a:schemeClr val="dk1"/>
                </a:solidFill>
              </a:rPr>
              <a:t>Majority classifier, no fires every day, 67% accuracy but 0 recall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Logistic regression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single-layer </a:t>
            </a:r>
            <a:r>
              <a:rPr lang="en-US" sz="1600">
                <a:solidFill>
                  <a:schemeClr val="dk1"/>
                </a:solidFill>
              </a:rPr>
              <a:t>neural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network in TensorFlow taking features</a:t>
            </a:r>
            <a:r>
              <a:rPr lang="en-US" sz="1600">
                <a:solidFill>
                  <a:schemeClr val="dk1"/>
                </a:solidFill>
              </a:rPr>
              <a:t>, passing through a sigmoid function to get 0 or 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XGBoost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en-US" sz="1600">
                <a:solidFill>
                  <a:schemeClr val="dk1"/>
                </a:solidFill>
              </a:rPr>
              <a:t>Gradient boosting algorithm which b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uilds sequential trees each correcting the prior, built using the XGboost library in Python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builds independent trees in paralle</a:t>
            </a:r>
            <a:r>
              <a:rPr lang="en-US" sz="1600">
                <a:solidFill>
                  <a:schemeClr val="dk1"/>
                </a:solidFill>
              </a:rPr>
              <a:t>l on bootstrapped subsets of the training data and votes by majority vote to make a determination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</a:rPr>
              <a:t>FFNN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en-US" sz="1600">
                <a:solidFill>
                  <a:schemeClr val="dk1"/>
                </a:solidFill>
              </a:rPr>
              <a:t>Same input features, a set of </a:t>
            </a:r>
            <a:r>
              <a:rPr lang="en-US" sz="1600">
                <a:solidFill>
                  <a:schemeClr val="dk1"/>
                </a:solidFill>
              </a:rPr>
              <a:t>hidden</a:t>
            </a:r>
            <a:r>
              <a:rPr lang="en-US" sz="1600">
                <a:solidFill>
                  <a:schemeClr val="dk1"/>
                </a:solidFill>
              </a:rPr>
              <a:t> layers with activation functions, culminating in a sigmoid layer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A few things we did across all models:</a:t>
            </a:r>
            <a:endParaRPr sz="18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First, handling class imbalance - we didn't resample, instead using class weights to penalize fire misses more heavily</a:t>
            </a:r>
            <a:r>
              <a:rPr lang="en-US" sz="1600">
                <a:solidFill>
                  <a:schemeClr val="dk1"/>
                </a:solidFill>
              </a:rPr>
              <a:t> (as we had fewer fire days in our dataset)</a:t>
            </a:r>
            <a:endParaRPr sz="18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Second, feature scaling - only gradient-descent models need it; tree models are scale-invariant so we used raw features there. </a:t>
            </a:r>
            <a:endParaRPr sz="18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Third, hyperparameter tuning was done exclusively on the validation set – per best practice the test set was held out until final evaluation.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selection criteria used F1-score primarilyy, with recall as tiebreaker. We chose recall as tiebreaker because from a public safety perspective, missing a real fire day is worse than a false alarm.</a:t>
            </a:r>
            <a:endParaRPr sz="1800"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PHIL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Displayed here are the results across all five models. The yellow-highlighted row is XGBoost, our best model under the F1-primary selection criteria.  A few things stand out: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First, the baseline catches zero fires - it just predicts no fire every day. Every real model substantially outperforms it on fire recall and F1, which validates that our weather features carry genuine predictive signal.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XGBoost edges out with the highest fire F1 of 0.69. Logistic regression, XGBoost, and Random Forest all land near 76% accuracy and similar F1 scores - they’ve largely converged.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an important finding: the additional complexity of tree ensembles and gradient boosting didn't significantly beat a simple linear model.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suggests the bottleneck is the data, not the model. (mo</a:t>
            </a:r>
            <a:r>
              <a:rPr b="1" lang="en-US" sz="1300">
                <a:solidFill>
                  <a:schemeClr val="dk1"/>
                </a:solidFill>
              </a:rPr>
              <a:t>del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complexity </a:t>
            </a:r>
            <a:r>
              <a:rPr b="1" lang="en-US" sz="1300">
                <a:solidFill>
                  <a:schemeClr val="dk1"/>
                </a:solidFill>
              </a:rPr>
              <a:t>does not help)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F1 - balances the recall and precision - 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why? precision + recall/precision * recall</a:t>
            </a: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logistic regression fire shows with </a:t>
            </a:r>
            <a:r>
              <a:rPr lang="en-US" sz="1300">
                <a:solidFill>
                  <a:schemeClr val="dk1"/>
                </a:solidFill>
              </a:rPr>
              <a:t>highest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recall of</a:t>
            </a:r>
            <a:r>
              <a:rPr lang="en-US" sz="1300">
                <a:solidFill>
                  <a:schemeClr val="dk1"/>
                </a:solidFill>
              </a:rPr>
              <a:t> 78.67% 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themodel  but </a:t>
            </a:r>
            <a:r>
              <a:rPr lang="en-US" sz="1300">
                <a:solidFill>
                  <a:schemeClr val="dk1"/>
                </a:solidFill>
              </a:rPr>
              <a:t>barely</a:t>
            </a:r>
            <a:r>
              <a:rPr lang="en-US" sz="1300">
                <a:solidFill>
                  <a:schemeClr val="dk1"/>
                </a:solidFill>
              </a:rPr>
              <a:t> 2/10th of a point -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recall was the top criteria, logistic regression wins.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why selection criteria matter.</a:t>
            </a:r>
            <a:endParaRPr sz="1100"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PHIL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arguably the most analytically interesting slide in the deck - and the most honest one.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we break the Random Forest results down by season, a very different picture emerges from the overall 76% accuracy.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Summer looks spectacular - 99.5% recall.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look at the fire day percentage: 69% of summer days are fire days. The model has essentially learned to predict fire for almost every summer day, which trivially produces near-perfect recall. This isn't discrimination - it's following the base rate.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Spring is operationally the most concerning finding. The model misses nearly two thirds of spring fires. Spring has a lower fire base rate of 23%, and the model hasn't learned what distinguishes the fire days from the non-fire days within the season.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Winter is a complete failure. Zero fires detected in the test set despite 54 actual winter fire days. The 7% base rate is so low that even with class weighting, the model defaults to always predicting no fire in winter.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Importantly - XGBoost shows a similar seasonal pattern in its monthly subgroup analysis. This is a consistent finding across models, not a Random Forest-specific issue.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implication is clear: our models have learned California's seasonal fire calendar</a:t>
            </a:r>
            <a:r>
              <a:rPr lang="en-US" sz="1200">
                <a:solidFill>
                  <a:schemeClr val="dk1"/>
                </a:solidFill>
              </a:rPr>
              <a:t>. Next, let’s look at what XGBoost identified as important features</a:t>
            </a:r>
            <a:br>
              <a:rPr lang="en-US" sz="1200">
                <a:solidFill>
                  <a:schemeClr val="dk1"/>
                </a:solidFill>
              </a:rPr>
            </a:br>
            <a:br>
              <a:rPr lang="en-US" sz="1200">
                <a:solidFill>
                  <a:schemeClr val="dk1"/>
                </a:solidFill>
              </a:rPr>
            </a:br>
            <a:r>
              <a:rPr lang="en-US" sz="1200" strike="sng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but they haven't learned what makes any specific day within a season a fire risk day. Better features - vegetation dryness, regional weather stations - could close this gap.</a:t>
            </a:r>
            <a:endParaRPr strike="sngStrike"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49501db39_1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g3d49501db39_1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[ALVARO]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Looking across all models, a consistent picture emerges about what the data can and cannot tell us.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top three features - month, min_temp, max_temp, </a:t>
            </a:r>
            <a:r>
              <a:rPr lang="en-US" sz="1200">
                <a:solidFill>
                  <a:schemeClr val="dk1"/>
                </a:solidFill>
              </a:rPr>
              <a:t>followed by precipitation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so </a:t>
            </a:r>
            <a:r>
              <a:rPr lang="en-US" sz="1200">
                <a:solidFill>
                  <a:schemeClr val="dk1"/>
                </a:solidFill>
              </a:rPr>
              <a:t>model is predicting “No Fire” in winter months and “Fire” in summer months.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Month and overnight lows or night time temperatures are key, as the vegetation does not get time to recover its moisture.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The model splits the data into risky or Fire months vs safe or No-Fire months, and then within those risky months, the days when night-time temperatures are high, increases the risk of fire-ignition the most compared to cooler nights which decreases the next day’s risk risk.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Peak heat in the afternoon - or Max temp is less predictive than night-time temperatures.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This is consistent with the Correlations where min_temp had the strongest relationship with ‘Fire_start_day’ (0.47)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important high-level finding is what the model convergence tells us. When a simple logistic regression and a complex gradient boosting model achieve essentially identical F1 scores, that's a signal that we have extracted most of the available signal from the features. Adding model complexity and depth didn't help - you need better data.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geographic limitation is fundamental. California has dozens of distinct climate zones. A heat wave in the Central Valley is very different from one in the coastal ranges, but our dataset treats them identically. Station-level weather data with coordinates would unlock regional modeling.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d49501db39_1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[ALVARO]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close, I will summarize what we found and where this work could go.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best model is XGBoost with a test accuracy of 76.5%, fire F1 of 0.69, and fire recall of 78.2%. It achieves this by building 6,938 sequential decision trees, each correcting the residual errors of the previous.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headline conclusion is that tabular weather data carries real predictive signal for wildfire ignition.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models beat the naive baseline by roughly 9 percentage points in accuracy and go from zero fire detection to 78% recall - a meaningful improvement.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But:  all three of our serious models - logistic regression, XGBoost, and Random Forest - converge to nearly identical performance. This tells us we've extracted most of the available signal from these features.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important limitation is geographic. Our dataset has no location identifiers. California encompasses dramatically different fire environments - the Central Valley, the Sierra Nevada, the coastal ranges, Southern California - and our model can't distinguish between them.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actionable future improvement would be adding fuel moisture data. Fuel moisture content </a:t>
            </a:r>
            <a:r>
              <a:rPr lang="en-US" sz="1200">
                <a:solidFill>
                  <a:schemeClr val="dk1"/>
                </a:solidFill>
              </a:rPr>
              <a:t>-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dry the vegetation is  - a direct physical precursor to ignition that our weather-based proxy features only approximate. The USDA Forest Service publishes daily fuel moisture readings at station level that could be integrated.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you. Happy to take any questions.</a:t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d47416ece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g3dd47416ece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close, I will summarize what we found and where this work could go.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best model is XGBoost with a test accuracy of 76.5%, fire F1 of 0.69, and fire recall of 78.2%. It achieves this by building 6,938 sequential decision trees, each correcting the residual errors of the previous.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headline conclusion is that tabular weather data carries real predictive signal for wildfire ignition.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models beat the naive baseline by roughly 9 percentage points in accuracy and go from zero fire detection to 78% recall - a meaningful improvement.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But:  all three of our serious models - logistic regression, XGBoost, and Random Forest - converge to nearly identical performance. This tells us we've extracted most of the available signal from these features.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important limitation is geographic. Our dataset has no location identifiers. California encompasses dramatically different fire environments - the Central Valley, the Sierra Nevada, the coastal ranges, Southern California - and our model can't distinguish between them.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actionable future improvement would be adding fuel moisture data. Fuel moisture content — how dry the vegetation is  - a direct physical precursor to ignition that our weather-based proxy features only approximate. The USDA Forest Service publishes daily fuel moisture readings at station level that could be integrated.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you. Happy to take any questions.</a:t>
            </a:r>
            <a:endParaRPr/>
          </a:p>
        </p:txBody>
      </p:sp>
      <p:sp>
        <p:nvSpPr>
          <p:cNvPr id="168" name="Google Shape;168;g3dd47416ece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62fbc3e1a_0_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d62fbc3e1a_0_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close, I will summarize what we found and where this work could go.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best model is XGBoost with a test accuracy of 76.5%, fire F1 of 0.69, and fire recall of 78.2%. It achieves this by building 6,938 sequential decision trees, each correcting the residual errors of the previous.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headline conclusion is that tabular weather data carries real predictive signal for wildfire ignition.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models beat the naive baseline by roughly 9 percentage points in accuracy and go from zero fire detection to 78% recall - a meaningful improvement.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But:  all three of our serious models - logistic regression, XGBoost, and Random Forest - converge to nearly identical performance. This tells us we've extracted most of the available signal from these features.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important limitation is geographic. Our dataset has no location identifiers. California encompasses dramatically different fire environments - the Central Valley, the Sierra Nevada, the coastal ranges, Southern California - and our model can't distinguish between them.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actionable future improvement would be adding fuel moisture data. Fuel moisture content — how dry the vegetation is  - a direct physical precursor to ignition that our weather-based proxy features only approximate. The USDA Forest Service publishes daily fuel moisture readings at station level that could be integrated.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you. Happy to take any questions.</a:t>
            </a:r>
            <a:endParaRPr/>
          </a:p>
        </p:txBody>
      </p:sp>
      <p:sp>
        <p:nvSpPr>
          <p:cNvPr id="175" name="Google Shape;175;g3d62fbc3e1a_0_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hyperlink" Target="http://zenodo.org/records/14712845" TargetMode="External"/><Relationship Id="rId5" Type="http://schemas.openxmlformats.org/officeDocument/2006/relationships/hyperlink" Target="http://zenodo.org/records/14712845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0000"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031086" y="1804976"/>
            <a:ext cx="3697028" cy="2817023"/>
          </a:xfrm>
          <a:prstGeom prst="rect">
            <a:avLst/>
          </a:prstGeom>
          <a:solidFill>
            <a:srgbClr val="2D6A4F">
              <a:alpha val="80000"/>
            </a:srgbClr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186282" y="1987856"/>
            <a:ext cx="3358952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Wildfires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California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110781" y="3208873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800"/>
              <a:buFont typeface="Calibri"/>
              <a:buNone/>
            </a:pPr>
            <a:r>
              <a:rPr b="1" i="1" lang="en-US" sz="180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Using Machine Learning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110775" y="3814225"/>
            <a:ext cx="31896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3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1F3F0"/>
                </a:solidFill>
                <a:latin typeface="Calibri"/>
                <a:ea typeface="Calibri"/>
                <a:cs typeface="Calibri"/>
                <a:sym typeface="Calibri"/>
              </a:rPr>
              <a:t>Alvaro Laham · Ruchi T. Bhanot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3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1F3F0"/>
                </a:solidFill>
                <a:latin typeface="Calibri"/>
                <a:ea typeface="Calibri"/>
                <a:cs typeface="Calibri"/>
                <a:sym typeface="Calibri"/>
              </a:rPr>
              <a:t>Jake Klein · Phillip Dundas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3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1F3F0"/>
                </a:solidFill>
                <a:latin typeface="Calibri"/>
                <a:ea typeface="Calibri"/>
                <a:cs typeface="Calibri"/>
                <a:sym typeface="Calibri"/>
              </a:rPr>
              <a:t>UC Berkeley MIDS - DATASCI 207 · April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94" y="381154"/>
            <a:ext cx="4621845" cy="2773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50000"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365760" y="274320"/>
            <a:ext cx="64008" cy="50292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Problem &amp; Motivation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2"/>
          <p:cNvCxnSpPr/>
          <p:nvPr/>
        </p:nvCxnSpPr>
        <p:spPr>
          <a:xfrm>
            <a:off x="365760" y="86868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2"/>
          <p:cNvSpPr/>
          <p:nvPr/>
        </p:nvSpPr>
        <p:spPr>
          <a:xfrm>
            <a:off x="365760" y="1005840"/>
            <a:ext cx="4587939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i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California wildfires have increased dramatically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 frequency and severity over the past four decades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Literature review suggests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detection systems f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ocused on predicting </a:t>
            </a:r>
            <a:r>
              <a:rPr b="1" i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fire expansion</a:t>
            </a:r>
            <a:r>
              <a:rPr b="1" i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- too late for proactive resource deployment (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Khennou et al., 2023; Radke et al., 2019)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Weather conditions (temperature, drought, wind, precipitation) are </a:t>
            </a:r>
            <a:r>
              <a:rPr b="1" i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known precursors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fire ignition (Aurora et al., 202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Our goal: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 whether a wildfire will </a:t>
            </a:r>
            <a:r>
              <a:rPr b="1" i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on a given day from day-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of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weather data alone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Practical use case: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fire agencies can pre-position crews and equipment on forecasted high-risk days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 treat this as a binary classification problem — fire day (1) or no-fire day (0)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atistics | CAL FIRE" id="28" name="Google Shape;2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2002" y="1005840"/>
            <a:ext cx="3783435" cy="378343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 txBox="1"/>
          <p:nvPr/>
        </p:nvSpPr>
        <p:spPr>
          <a:xfrm>
            <a:off x="478475" y="4509525"/>
            <a:ext cx="3783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50000"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365760" y="274320"/>
            <a:ext cx="64008" cy="50292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Our Dataset, Preprocessing &amp; Features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3"/>
          <p:cNvCxnSpPr/>
          <p:nvPr/>
        </p:nvCxnSpPr>
        <p:spPr>
          <a:xfrm>
            <a:off x="365760" y="86868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3"/>
          <p:cNvSpPr/>
          <p:nvPr/>
        </p:nvSpPr>
        <p:spPr>
          <a:xfrm>
            <a:off x="429768" y="1541644"/>
            <a:ext cx="2560320" cy="100584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29768" y="158736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14,976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29768" y="2090284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Daily Observations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264408" y="1541644"/>
            <a:ext cx="2560320" cy="100584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3264408" y="158736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41 yrs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264408" y="2090284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1984 – 2025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099048" y="1541644"/>
            <a:ext cx="2560320" cy="100584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099048" y="158736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099048" y="2090284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Predictive 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04622" y="2639805"/>
            <a:ext cx="402336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04622" y="2639805"/>
            <a:ext cx="64008" cy="100584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1782" y="2712957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Weather (4)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41782" y="3051285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E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4E69"/>
                </a:solidFill>
                <a:latin typeface="Calibri"/>
                <a:ea typeface="Calibri"/>
                <a:cs typeface="Calibri"/>
                <a:sym typeface="Calibri"/>
              </a:rPr>
              <a:t>precipitation · max_temp · min_temp · avg_wind_speed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702302" y="2639805"/>
            <a:ext cx="402336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702302" y="2639805"/>
            <a:ext cx="64008" cy="100584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839462" y="2712957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Engineered (3)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839462" y="3051285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E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4E69"/>
                </a:solidFill>
                <a:latin typeface="Calibri"/>
                <a:ea typeface="Calibri"/>
                <a:cs typeface="Calibri"/>
                <a:sym typeface="Calibri"/>
              </a:rPr>
              <a:t>lagged_precipitation · lagged_wind_speed · days_without_rain*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11480" y="3737086"/>
            <a:ext cx="402336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11480" y="3737086"/>
            <a:ext cx="64008" cy="100584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381023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Temporal (16)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4148566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E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4E69"/>
                </a:solidFill>
                <a:latin typeface="Calibri"/>
                <a:ea typeface="Calibri"/>
                <a:cs typeface="Calibri"/>
                <a:sym typeface="Calibri"/>
              </a:rPr>
              <a:t>Month &amp; season : one-hot encoded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09160" y="3737086"/>
            <a:ext cx="402336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709160" y="3737086"/>
            <a:ext cx="64008" cy="100584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846320" y="381023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Target (1)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846320" y="4148566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E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4E69"/>
                </a:solidFill>
                <a:latin typeface="Calibri"/>
                <a:ea typeface="Calibri"/>
                <a:cs typeface="Calibri"/>
                <a:sym typeface="Calibri"/>
              </a:rPr>
              <a:t>fire_start_day  [0 = No Fire | 1 = Fire]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5760" y="47777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rPr b="1" i="1"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Team-engineered feature: consecutive days without precipitation</a:t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16052" y="958189"/>
            <a:ext cx="8243316" cy="491127"/>
          </a:xfrm>
          <a:prstGeom prst="rect">
            <a:avLst/>
          </a:prstGeom>
          <a:noFill/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48640" y="1010506"/>
            <a:ext cx="76200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source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California Weather &amp; Fire Prediction Dataset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9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(</a:t>
            </a:r>
            <a:r>
              <a:rPr lang="en-US" sz="1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http://zenodo.org/records/14712845)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5000"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365760" y="274320"/>
            <a:ext cx="64008" cy="50292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Exploratory Data Analysis - Key Findings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4"/>
          <p:cNvCxnSpPr/>
          <p:nvPr/>
        </p:nvCxnSpPr>
        <p:spPr>
          <a:xfrm>
            <a:off x="365760" y="86868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4"/>
          <p:cNvSpPr/>
          <p:nvPr/>
        </p:nvSpPr>
        <p:spPr>
          <a:xfrm>
            <a:off x="274321" y="1019472"/>
            <a:ext cx="3198722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min_temp 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has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the strongest 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correlation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to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fire ignition (</a:t>
            </a: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 = 0.47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- warm overnight temperatures signal elevated risk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max_temp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shows strong positive correlation (</a:t>
            </a: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 = 0.37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) - daytime heat compounds moisture stress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days_without_rain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captures cumulative drought effect (</a:t>
            </a: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 = 0.31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) - vegetation dryness builds over time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lagged_precipitation -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7-day prior rainfall - acts as a protective signal         (</a:t>
            </a: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 = -0.22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Wind speed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shows 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very weak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correlation with ignition (</a:t>
            </a: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 = 0.04 to 0.08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) - more relevant to spread than start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303520" y="1005840"/>
            <a:ext cx="35661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📷 IMAGE SUGGESTION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1" y="1384932"/>
            <a:ext cx="5065073" cy="2889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5000"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365760" y="274320"/>
            <a:ext cx="64008" cy="50292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Methodology — Baseline + Four Models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5"/>
          <p:cNvCxnSpPr/>
          <p:nvPr/>
        </p:nvCxnSpPr>
        <p:spPr>
          <a:xfrm>
            <a:off x="365760" y="86868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5"/>
          <p:cNvSpPr/>
          <p:nvPr/>
        </p:nvSpPr>
        <p:spPr>
          <a:xfrm>
            <a:off x="274320" y="1005840"/>
            <a:ext cx="1508760" cy="1188720"/>
          </a:xfrm>
          <a:prstGeom prst="rect">
            <a:avLst/>
          </a:prstGeom>
          <a:solidFill>
            <a:srgbClr val="4A4E69"/>
          </a:solidFill>
          <a:ln cap="flat" cmpd="sng" w="12700">
            <a:solidFill>
              <a:srgbClr val="4A4E6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274320" y="105156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274320" y="1536192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Majority class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(always no fire)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5"/>
          <p:cNvCxnSpPr/>
          <p:nvPr/>
        </p:nvCxnSpPr>
        <p:spPr>
          <a:xfrm>
            <a:off x="1783080" y="160020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4A4E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5"/>
          <p:cNvSpPr/>
          <p:nvPr/>
        </p:nvSpPr>
        <p:spPr>
          <a:xfrm>
            <a:off x="1993392" y="1005840"/>
            <a:ext cx="1508760" cy="118872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993392" y="105156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993392" y="1536192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boundary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TensorFlow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5"/>
          <p:cNvCxnSpPr/>
          <p:nvPr/>
        </p:nvCxnSpPr>
        <p:spPr>
          <a:xfrm>
            <a:off x="3502152" y="160020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4A4E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5"/>
          <p:cNvSpPr/>
          <p:nvPr/>
        </p:nvSpPr>
        <p:spPr>
          <a:xfrm>
            <a:off x="3712464" y="1005840"/>
            <a:ext cx="1508760" cy="118872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712464" y="105156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712464" y="1536192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1,000-config search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5"/>
          <p:cNvCxnSpPr/>
          <p:nvPr/>
        </p:nvCxnSpPr>
        <p:spPr>
          <a:xfrm>
            <a:off x="5221224" y="160020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4A4E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5"/>
          <p:cNvSpPr/>
          <p:nvPr/>
        </p:nvSpPr>
        <p:spPr>
          <a:xfrm>
            <a:off x="5431536" y="1005840"/>
            <a:ext cx="1508760" cy="118872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431536" y="105156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431536" y="1536192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Bagging ensemble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grid search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5"/>
          <p:cNvCxnSpPr/>
          <p:nvPr/>
        </p:nvCxnSpPr>
        <p:spPr>
          <a:xfrm>
            <a:off x="6940296" y="160020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4A4E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5"/>
          <p:cNvSpPr/>
          <p:nvPr/>
        </p:nvSpPr>
        <p:spPr>
          <a:xfrm>
            <a:off x="7150608" y="1005840"/>
            <a:ext cx="1508760" cy="118872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7150608" y="105156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FFNN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150608" y="1536192"/>
            <a:ext cx="1508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to 3 hidden layers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Keras Tuner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65760" y="2423160"/>
            <a:ext cx="84124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Class imbalance (67/33):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adjusted for by using class_weight='balanced' for Random Forest, scale_pos_weight=2.01 for XGBoost, class weights {0:1, 1:2} for FFNN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Feature scaling: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Z-score normalization for logistic regression &amp; FFNN; raw features for XGBoost &amp; Random Forest (tree models are scale-invariant)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Tuning: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Keras Tuner Hyperband for logistic regression/FFNN; RandomizedSearchCV (1,000 configs) for XGBoost; manual grid for Random Forest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Evaluation: </a:t>
            </a:r>
            <a:r>
              <a:rPr i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is primary metric; </a:t>
            </a:r>
            <a:r>
              <a:rPr i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is tiebreaker - operationally, missing a fire is worse than a false alarm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Train/val/test: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60/20/20 stratified split; hyperparameters tuned on validation only; test set used once for final evaluation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5000"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/>
          <p:nvPr/>
        </p:nvSpPr>
        <p:spPr>
          <a:xfrm>
            <a:off x="365760" y="274320"/>
            <a:ext cx="64008" cy="50292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Results — Model Comparison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6"/>
          <p:cNvCxnSpPr/>
          <p:nvPr/>
        </p:nvCxnSpPr>
        <p:spPr>
          <a:xfrm>
            <a:off x="365760" y="86868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6"/>
          <p:cNvSpPr/>
          <p:nvPr/>
        </p:nvSpPr>
        <p:spPr>
          <a:xfrm>
            <a:off x="5577840" y="1031006"/>
            <a:ext cx="3291840" cy="388388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669280" y="10972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577850" y="1639676"/>
            <a:ext cx="3291900" cy="3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XGBoost wins on F1 (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68.79%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) and highest precision (61.42%) - selected as best model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All models beat 6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6.82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% baseline by ~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8-10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% accuracy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All four models converge near the same F1 (~67-69%)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best on recall (78.67%)</a:t>
            </a:r>
            <a:endParaRPr/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suggests the bottleneck is the data, not the model.</a:t>
            </a:r>
            <a:endParaRPr sz="14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6"/>
          <p:cNvGraphicFramePr/>
          <p:nvPr/>
        </p:nvGraphicFramePr>
        <p:xfrm>
          <a:off x="365760" y="13193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{6C9492B4-143F-4FBB-B781-B52920B35433}</a:tableStyleId>
              </a:tblPr>
              <a:tblGrid>
                <a:gridCol w="987550"/>
                <a:gridCol w="987550"/>
                <a:gridCol w="987550"/>
                <a:gridCol w="987550"/>
                <a:gridCol w="987550"/>
              </a:tblGrid>
              <a:tr h="53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Test Accuracy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Fire F1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Fire Recall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Fire Precision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</a:tr>
              <a:tr h="53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b="1"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66.82%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0.00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0.00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0.00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0"/>
                    </a:solidFill>
                  </a:tcPr>
                </a:tc>
              </a:tr>
              <a:tr h="53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b="1"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75.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47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68.03%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6A4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accent6"/>
                          </a:solidFill>
                        </a:rPr>
                        <a:t>78.67%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59.92%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</a:tr>
              <a:tr h="53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XGBoost ★</a:t>
                      </a:r>
                      <a:endParaRPr b="1"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accent6"/>
                          </a:solidFill>
                        </a:rPr>
                        <a:t>76.</a:t>
                      </a:r>
                      <a:r>
                        <a:rPr b="1" lang="en-US" sz="1100">
                          <a:solidFill>
                            <a:schemeClr val="accent6"/>
                          </a:solidFill>
                        </a:rPr>
                        <a:t>47</a:t>
                      </a:r>
                      <a:r>
                        <a:rPr b="1" lang="en-US" sz="1100" u="none" cap="none" strike="noStrike">
                          <a:solidFill>
                            <a:schemeClr val="accent6"/>
                          </a:solidFill>
                        </a:rPr>
                        <a:t>%</a:t>
                      </a:r>
                      <a:endParaRPr b="1"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6A4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68.79%</a:t>
                      </a:r>
                      <a:endParaRPr b="1">
                        <a:solidFill>
                          <a:schemeClr val="accent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78.17%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chemeClr val="accent6"/>
                          </a:solidFill>
                        </a:rPr>
                        <a:t>61.42%</a:t>
                      </a:r>
                      <a:endParaRPr b="1"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</a:tr>
              <a:tr h="53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b="1"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5.60</a:t>
                      </a: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68.00%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D62828"/>
                          </a:solidFill>
                        </a:rPr>
                        <a:t>77.00%</a:t>
                      </a:r>
                      <a:endParaRPr sz="1100" u="none" cap="none" strike="noStrike">
                        <a:solidFill>
                          <a:srgbClr val="D62828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282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60.00%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0"/>
                    </a:solidFill>
                  </a:tcPr>
                </a:tc>
              </a:tr>
              <a:tr h="537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FFNN</a:t>
                      </a:r>
                      <a:endParaRPr b="1"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B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D62828"/>
                          </a:solidFill>
                        </a:rPr>
                        <a:t>74.</a:t>
                      </a:r>
                      <a:r>
                        <a:rPr lang="en-US" sz="1100">
                          <a:solidFill>
                            <a:srgbClr val="D62828"/>
                          </a:solidFill>
                        </a:rPr>
                        <a:t>50</a:t>
                      </a:r>
                      <a:r>
                        <a:rPr lang="en-US" sz="1100" u="none" cap="none" strike="noStrike">
                          <a:solidFill>
                            <a:srgbClr val="D62828"/>
                          </a:solidFill>
                        </a:rPr>
                        <a:t>%</a:t>
                      </a:r>
                      <a:endParaRPr sz="1100" u="none" cap="none" strike="noStrike">
                        <a:solidFill>
                          <a:srgbClr val="D62828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B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282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D62828"/>
                          </a:solidFill>
                        </a:rPr>
                        <a:t>67.00%</a:t>
                      </a:r>
                      <a:endParaRPr sz="1100" u="none" cap="none" strike="noStrike">
                        <a:solidFill>
                          <a:srgbClr val="D62828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B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282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78.00%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B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6A4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D62828"/>
                          </a:solidFill>
                        </a:rPr>
                        <a:t>59.00%</a:t>
                      </a:r>
                      <a:endParaRPr sz="1100" u="none" cap="none" strike="noStrike">
                        <a:solidFill>
                          <a:srgbClr val="D62828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B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5000"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365760" y="274320"/>
            <a:ext cx="64008" cy="50292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Seasonal Subgroup Analysis — Random Forest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7"/>
          <p:cNvCxnSpPr/>
          <p:nvPr/>
        </p:nvCxnSpPr>
        <p:spPr>
          <a:xfrm>
            <a:off x="365760" y="86868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5" name="Google Shape;125;p7"/>
          <p:cNvGraphicFramePr/>
          <p:nvPr/>
        </p:nvGraphicFramePr>
        <p:xfrm>
          <a:off x="328010" y="1420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{6C9492B4-143F-4FBB-B781-B52920B35433}</a:tableStyleId>
              </a:tblPr>
              <a:tblGrid>
                <a:gridCol w="1005850"/>
                <a:gridCol w="1005850"/>
                <a:gridCol w="1005850"/>
                <a:gridCol w="1005850"/>
                <a:gridCol w="100585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Season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Count (n)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Fire Days 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Fire Recall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Fire F1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☀️ Summer</a:t>
                      </a:r>
                      <a:endParaRPr b="1"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791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6A4F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D6A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69.2%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6A4F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D6A4F"/>
                          </a:solidFill>
                        </a:rPr>
                        <a:t>0.995</a:t>
                      </a:r>
                      <a:endParaRPr b="0"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6A4F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D6A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🍂 Fall</a:t>
                      </a:r>
                      <a:endParaRPr b="1"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710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33.0%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0.709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0.552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🌱 Spring</a:t>
                      </a:r>
                      <a:endParaRPr b="1"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720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22.9%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0.358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0.418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❄️ Winter</a:t>
                      </a:r>
                      <a:endParaRPr b="1"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</a:rPr>
                        <a:t>775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2828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D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2828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D62828"/>
                          </a:solidFill>
                        </a:rPr>
                        <a:t>0.000</a:t>
                      </a:r>
                      <a:endParaRPr b="0"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62828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D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F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7"/>
          <p:cNvSpPr/>
          <p:nvPr/>
        </p:nvSpPr>
        <p:spPr>
          <a:xfrm>
            <a:off x="5577840" y="1005840"/>
            <a:ext cx="3291840" cy="118872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577840" y="1005840"/>
            <a:ext cx="64008" cy="118872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715000" y="109728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Summer: An Illusion of Performance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715000" y="1444752"/>
            <a:ext cx="3063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E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4E69"/>
                </a:solidFill>
                <a:latin typeface="Calibri"/>
                <a:ea typeface="Calibri"/>
                <a:cs typeface="Calibri"/>
                <a:sym typeface="Calibri"/>
              </a:rPr>
              <a:t>99.5% recall - but 69% of summer days ARE fire days. Model predicts fire constantly.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577840" y="2304288"/>
            <a:ext cx="3291840" cy="118872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577840" y="2304288"/>
            <a:ext cx="64008" cy="118872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715000" y="239572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Spring: Most Dangerous Gap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715000" y="2743200"/>
            <a:ext cx="3063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E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4E69"/>
                </a:solidFill>
                <a:latin typeface="Calibri"/>
                <a:ea typeface="Calibri"/>
                <a:cs typeface="Calibri"/>
                <a:sym typeface="Calibri"/>
              </a:rPr>
              <a:t>Model misses 64% of spring fires. Low base rate (23%) makes model overly conservative.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577840" y="3602736"/>
            <a:ext cx="3291840" cy="1188720"/>
          </a:xfrm>
          <a:prstGeom prst="rect">
            <a:avLst/>
          </a:prstGeom>
          <a:solidFill>
            <a:srgbClr val="F0F0FF"/>
          </a:solidFill>
          <a:ln cap="flat" cmpd="sng" w="12700">
            <a:solidFill>
              <a:srgbClr val="4A6CF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577840" y="3602736"/>
            <a:ext cx="64008" cy="1188720"/>
          </a:xfrm>
          <a:prstGeom prst="rect">
            <a:avLst/>
          </a:prstGeom>
          <a:solidFill>
            <a:srgbClr val="4A6CF7"/>
          </a:solidFill>
          <a:ln cap="flat" cmpd="sng" w="12700">
            <a:solidFill>
              <a:srgbClr val="4A6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715000" y="3694176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Winter: Complete Failure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715000" y="4041648"/>
            <a:ext cx="3063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E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4E69"/>
                </a:solidFill>
                <a:latin typeface="Calibri"/>
                <a:ea typeface="Calibri"/>
                <a:cs typeface="Calibri"/>
                <a:sym typeface="Calibri"/>
              </a:rPr>
              <a:t>Zero fires detected. 7% base rate overwhelms class weighting entirely.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0000"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49501db39_1_1"/>
          <p:cNvSpPr/>
          <p:nvPr/>
        </p:nvSpPr>
        <p:spPr>
          <a:xfrm>
            <a:off x="365760" y="274320"/>
            <a:ext cx="63900" cy="502800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d49501db39_1_1"/>
          <p:cNvSpPr/>
          <p:nvPr/>
        </p:nvSpPr>
        <p:spPr>
          <a:xfrm>
            <a:off x="502920" y="2286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Discussion — What the Models </a:t>
            </a:r>
            <a:r>
              <a:rPr b="1" lang="en-US" sz="26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Learned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g3d49501db39_1_1"/>
          <p:cNvCxnSpPr/>
          <p:nvPr/>
        </p:nvCxnSpPr>
        <p:spPr>
          <a:xfrm>
            <a:off x="365760" y="868680"/>
            <a:ext cx="8412600" cy="0"/>
          </a:xfrm>
          <a:prstGeom prst="straightConnector1">
            <a:avLst/>
          </a:prstGeom>
          <a:noFill/>
          <a:ln cap="flat" cmpd="sng" w="1905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g3d49501db39_1_1"/>
          <p:cNvSpPr/>
          <p:nvPr/>
        </p:nvSpPr>
        <p:spPr>
          <a:xfrm>
            <a:off x="365750" y="957925"/>
            <a:ext cx="44706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Models </a:t>
            </a: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converge near 76% accuracy across logistic regression, XGBoost, and RF 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suggests a data ceiling, not a model complexity ceiling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285750" marR="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Feature importance: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month followed by weather (min_temp, max_temp and lagged participation) to refine prediction -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most efficient way to reduce loss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285750" marR="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Feature </a:t>
            </a: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min_temp is</a:t>
            </a: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the highest-ranked </a:t>
            </a: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numerical</a:t>
            </a: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feature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suggesting fire risk is associated with higher daily low temperatures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285750" marR="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Geographic blindness: no location identifiers in dataset </a:t>
            </a:r>
            <a:r>
              <a:rPr lang="en-US" sz="1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- models represent statewide averages, not regional risk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285750" marR="0" rtl="0" algn="l">
              <a:spcBef>
                <a:spcPts val="1000"/>
              </a:spcBef>
              <a:spcAft>
                <a:spcPts val="100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 not driving ignition: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average and lagged wind speed are not effective at separating data into classes (Fire vs No fire)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d49501db39_1_1"/>
          <p:cNvSpPr/>
          <p:nvPr/>
        </p:nvSpPr>
        <p:spPr>
          <a:xfrm>
            <a:off x="5394960" y="1005840"/>
            <a:ext cx="34746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g3d49501db39_1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6350" y="1574550"/>
            <a:ext cx="4235751" cy="25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0000"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62828"/>
          </a:solidFill>
          <a:ln cap="flat" cmpd="sng" w="12700">
            <a:solidFill>
              <a:srgbClr val="D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 &amp; Future Work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9"/>
          <p:cNvCxnSpPr/>
          <p:nvPr/>
        </p:nvCxnSpPr>
        <p:spPr>
          <a:xfrm>
            <a:off x="457200" y="779443"/>
            <a:ext cx="8229600" cy="0"/>
          </a:xfrm>
          <a:prstGeom prst="straightConnector1">
            <a:avLst/>
          </a:prstGeom>
          <a:noFill/>
          <a:ln cap="flat" cmpd="sng" w="1905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9"/>
          <p:cNvSpPr/>
          <p:nvPr/>
        </p:nvSpPr>
        <p:spPr>
          <a:xfrm>
            <a:off x="365760" y="921725"/>
            <a:ext cx="8412480" cy="499614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57200" y="967445"/>
            <a:ext cx="8229600" cy="4196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★  Best Model: XGBoost  |  76.5% Test Accuracy  |  Fire F1 = 0.69  |  Fire Recall = 78.2%</a:t>
            </a:r>
            <a:endParaRPr sz="16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65760" y="1593366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Key Conclusions</a:t>
            </a:r>
            <a:endParaRPr sz="20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365760" y="2020382"/>
            <a:ext cx="40233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Monthly and Night time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weather data can predict California fire ignition meaningfully above a naive baseline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models converged near 76% accuracy - data quality is the limiting factor, not model complexity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Seasonal patterns are learnable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Winter and spring fire detection remains an unsolved problem - and challenge - across all models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754880" y="159910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20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754880" y="1959126"/>
            <a:ext cx="413022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location-specific weather station data to enable regional modeling across California's diverse climate zones</a:t>
            </a:r>
            <a:endParaRPr/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Incorporate fuel moisture indices and vegetation dryness satellite data as direct physical precursors to ignition</a:t>
            </a:r>
            <a:endParaRPr/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multi-day weather sequence data to move beyond the IID assumption - fire risk builds over consecutive days and single-day snapshots miss that accumulation</a:t>
            </a:r>
            <a:endParaRPr/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Investigate season-specific prediction thresholds to improve winter and spring fire detection without sacrificing summer performance</a:t>
            </a:r>
            <a:endParaRPr/>
          </a:p>
        </p:txBody>
      </p:sp>
      <p:cxnSp>
        <p:nvCxnSpPr>
          <p:cNvPr id="164" name="Google Shape;164;p9"/>
          <p:cNvCxnSpPr/>
          <p:nvPr/>
        </p:nvCxnSpPr>
        <p:spPr>
          <a:xfrm>
            <a:off x="4572000" y="1826596"/>
            <a:ext cx="0" cy="2834640"/>
          </a:xfrm>
          <a:prstGeom prst="straightConnector1">
            <a:avLst/>
          </a:prstGeom>
          <a:noFill/>
          <a:ln cap="flat" cmpd="sng" w="12700">
            <a:solidFill>
              <a:srgbClr val="2D6A4F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0000"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d47416ece_0_3"/>
          <p:cNvSpPr/>
          <p:nvPr/>
        </p:nvSpPr>
        <p:spPr>
          <a:xfrm>
            <a:off x="287675" y="1623475"/>
            <a:ext cx="37314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rPr b="1" lang="en-US" sz="42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4200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t/>
            </a:r>
            <a:endParaRPr b="1" sz="4200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rPr b="1" lang="en-US" sz="42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4200">
              <a:solidFill>
                <a:schemeClr val="dk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g3dd47416ece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8075" y="385738"/>
            <a:ext cx="2624275" cy="43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0000"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62fbc3e1a_0_5"/>
          <p:cNvSpPr/>
          <p:nvPr/>
        </p:nvSpPr>
        <p:spPr>
          <a:xfrm>
            <a:off x="993400" y="1922500"/>
            <a:ext cx="37314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rPr b="1" lang="en-US" sz="420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1" sz="4200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Aurora A. Gutierrez et al. “Wildfire response to changing daily temperature extremes in California’s Sierra Nevada.” </a:t>
            </a:r>
            <a:r>
              <a:rPr i="1"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Science Advances </a:t>
            </a: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7.47 (2021).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Khennou, Fadoua, and Moulay A. Akhloufi. “Improving wildland fire spread prediction using deep U-Nets.” </a:t>
            </a: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 of Remote Sensing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8 (2023): 100101.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Radke, David, et al. “FireCast: Leveraging deep learning to predict wildfire spread.” </a:t>
            </a: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Proceedings of the Twenty-Eighth International Joint Conference on Artificial Intelligence (IJCAI-19)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(2019): 4575-4581.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600"/>
              <a:buFont typeface="Calibri"/>
              <a:buNone/>
            </a:pPr>
            <a:r>
              <a:t/>
            </a:r>
            <a:endParaRPr b="1" sz="4200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2026-04-04T14:28:15Z</dcterms:created>
  <dc:creator>PptxGenJS</dc:creator>
</cp:coreProperties>
</file>